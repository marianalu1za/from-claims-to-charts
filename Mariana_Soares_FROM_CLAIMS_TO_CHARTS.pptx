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Space Mono" charset="1" panose="02000509040000020004"/>
      <p:regular r:id="rId30"/>
    </p:embeddedFont>
    <p:embeddedFont>
      <p:font typeface="Space Mono Bold Italics" charset="1" panose="02000809040000090004"/>
      <p:regular r:id="rId31"/>
    </p:embeddedFont>
    <p:embeddedFont>
      <p:font typeface="Space Mono Italics" charset="1" panose="02000509090000090004"/>
      <p:regular r:id="rId32"/>
    </p:embeddedFont>
    <p:embeddedFont>
      <p:font typeface="Space Mono Bold" charset="1" panose="02000809030000020004"/>
      <p:regular r:id="rId33"/>
    </p:embeddedFont>
    <p:embeddedFont>
      <p:font typeface="Canva Sans" charset="1" panose="020B05030305010401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https://dashapp-349070754265.us-east1.run.app" TargetMode="External" Type="http://schemas.openxmlformats.org/officeDocument/2006/relationships/hyperlink"/><Relationship Id="rId5" Target="https://dashapp-349070754265.us-east1.run.app"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0" y="6985875"/>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0" y="2435858"/>
            <a:ext cx="5781017" cy="7851142"/>
          </a:xfrm>
          <a:custGeom>
            <a:avLst/>
            <a:gdLst/>
            <a:ahLst/>
            <a:cxnLst/>
            <a:rect r="r" b="b" t="t" l="l"/>
            <a:pathLst>
              <a:path h="7851142" w="5781017">
                <a:moveTo>
                  <a:pt x="0" y="0"/>
                </a:moveTo>
                <a:lnTo>
                  <a:pt x="5781017" y="0"/>
                </a:lnTo>
                <a:lnTo>
                  <a:pt x="5781017" y="7851142"/>
                </a:lnTo>
                <a:lnTo>
                  <a:pt x="0" y="7851142"/>
                </a:lnTo>
                <a:lnTo>
                  <a:pt x="0" y="0"/>
                </a:lnTo>
                <a:close/>
              </a:path>
            </a:pathLst>
          </a:custGeom>
          <a:blipFill>
            <a:blip r:embed="rId3"/>
            <a:stretch>
              <a:fillRect l="0" t="0" r="0" b="0"/>
            </a:stretch>
          </a:blipFill>
        </p:spPr>
      </p:sp>
      <p:sp>
        <p:nvSpPr>
          <p:cNvPr name="TextBox 6" id="6"/>
          <p:cNvSpPr txBox="true"/>
          <p:nvPr/>
        </p:nvSpPr>
        <p:spPr>
          <a:xfrm rot="0">
            <a:off x="2134100" y="591310"/>
            <a:ext cx="15735198" cy="3324999"/>
          </a:xfrm>
          <a:prstGeom prst="rect">
            <a:avLst/>
          </a:prstGeom>
        </p:spPr>
        <p:txBody>
          <a:bodyPr anchor="t" rtlCol="false" tIns="0" lIns="0" bIns="0" rIns="0">
            <a:spAutoFit/>
          </a:bodyPr>
          <a:lstStyle/>
          <a:p>
            <a:pPr algn="r">
              <a:lnSpc>
                <a:spcPts val="8573"/>
              </a:lnSpc>
            </a:pPr>
            <a:r>
              <a:rPr lang="en-US" sz="9024">
                <a:solidFill>
                  <a:srgbClr val="5E17EB"/>
                </a:solidFill>
                <a:latin typeface="Space Mono"/>
                <a:ea typeface="Space Mono"/>
                <a:cs typeface="Space Mono"/>
                <a:sym typeface="Space Mono"/>
              </a:rPr>
              <a:t>FROM CLAIMS TO CHARTS: Visualizing Innovation with PatentsView </a:t>
            </a:r>
          </a:p>
        </p:txBody>
      </p:sp>
      <p:sp>
        <p:nvSpPr>
          <p:cNvPr name="TextBox 7" id="7"/>
          <p:cNvSpPr txBox="true"/>
          <p:nvPr/>
        </p:nvSpPr>
        <p:spPr>
          <a:xfrm rot="0">
            <a:off x="13404360" y="4124043"/>
            <a:ext cx="3854940" cy="465213"/>
          </a:xfrm>
          <a:prstGeom prst="rect">
            <a:avLst/>
          </a:prstGeom>
        </p:spPr>
        <p:txBody>
          <a:bodyPr anchor="t" rtlCol="false" tIns="0" lIns="0" bIns="0" rIns="0">
            <a:spAutoFit/>
          </a:bodyPr>
          <a:lstStyle/>
          <a:p>
            <a:pPr algn="l">
              <a:lnSpc>
                <a:spcPts val="3552"/>
              </a:lnSpc>
            </a:pPr>
            <a:r>
              <a:rPr lang="en-US" sz="3383">
                <a:solidFill>
                  <a:srgbClr val="5E17EB"/>
                </a:solidFill>
                <a:latin typeface="Space Mono"/>
                <a:ea typeface="Space Mono"/>
                <a:cs typeface="Space Mono"/>
                <a:sym typeface="Space Mono"/>
              </a:rPr>
              <a:t>Mariana Soares</a:t>
            </a:r>
          </a:p>
        </p:txBody>
      </p:sp>
      <p:sp>
        <p:nvSpPr>
          <p:cNvPr name="TextBox 8" id="8"/>
          <p:cNvSpPr txBox="true"/>
          <p:nvPr/>
        </p:nvSpPr>
        <p:spPr>
          <a:xfrm rot="0">
            <a:off x="6124077" y="7018765"/>
            <a:ext cx="11135223" cy="2239535"/>
          </a:xfrm>
          <a:prstGeom prst="rect">
            <a:avLst/>
          </a:prstGeom>
        </p:spPr>
        <p:txBody>
          <a:bodyPr anchor="t" rtlCol="false" tIns="0" lIns="0" bIns="0" rIns="0">
            <a:spAutoFit/>
          </a:bodyPr>
          <a:lstStyle/>
          <a:p>
            <a:pPr algn="r">
              <a:lnSpc>
                <a:spcPts val="5875"/>
              </a:lnSpc>
            </a:pPr>
            <a:r>
              <a:rPr lang="en-US" sz="5341">
                <a:solidFill>
                  <a:srgbClr val="5E17EB"/>
                </a:solidFill>
                <a:latin typeface="Space Mono"/>
                <a:ea typeface="Space Mono"/>
                <a:cs typeface="Space Mono"/>
                <a:sym typeface="Space Mono"/>
              </a:rPr>
              <a:t>CS5764 Information Visualization</a:t>
            </a:r>
          </a:p>
          <a:p>
            <a:pPr algn="r">
              <a:lnSpc>
                <a:spcPts val="5875"/>
              </a:lnSpc>
            </a:pPr>
            <a:r>
              <a:rPr lang="en-US" sz="5341">
                <a:solidFill>
                  <a:srgbClr val="5E17EB"/>
                </a:solidFill>
                <a:latin typeface="Space Mono"/>
                <a:ea typeface="Space Mono"/>
                <a:cs typeface="Space Mono"/>
                <a:sym typeface="Space Mono"/>
              </a:rPr>
              <a:t>Virginia Tech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TextBox 4" id="4"/>
          <p:cNvSpPr txBox="true"/>
          <p:nvPr/>
        </p:nvSpPr>
        <p:spPr>
          <a:xfrm rot="0">
            <a:off x="1213189" y="2084338"/>
            <a:ext cx="15861622" cy="3478518"/>
          </a:xfrm>
          <a:prstGeom prst="rect">
            <a:avLst/>
          </a:prstGeom>
        </p:spPr>
        <p:txBody>
          <a:bodyPr anchor="t" rtlCol="false" tIns="0" lIns="0" bIns="0" rIns="0">
            <a:spAutoFit/>
          </a:bodyPr>
          <a:lstStyle/>
          <a:p>
            <a:pPr algn="just" marL="712575" indent="-356288" lvl="1">
              <a:lnSpc>
                <a:spcPts val="4620"/>
              </a:lnSpc>
              <a:buFont typeface="Arial"/>
              <a:buChar char="•"/>
            </a:pPr>
            <a:r>
              <a:rPr lang="en-US" sz="3300">
                <a:solidFill>
                  <a:srgbClr val="5E17EB"/>
                </a:solidFill>
                <a:latin typeface="Space Mono"/>
                <a:ea typeface="Space Mono"/>
                <a:cs typeface="Space Mono"/>
                <a:sym typeface="Space Mono"/>
              </a:rPr>
              <a:t>Patents offer legal protection for an invention (usually 20 years)</a:t>
            </a:r>
          </a:p>
          <a:p>
            <a:pPr algn="just" marL="712575" indent="-356288" lvl="1">
              <a:lnSpc>
                <a:spcPts val="4620"/>
              </a:lnSpc>
              <a:buFont typeface="Arial"/>
              <a:buChar char="•"/>
            </a:pPr>
            <a:r>
              <a:rPr lang="en-US" sz="3300">
                <a:solidFill>
                  <a:srgbClr val="5E17EB"/>
                </a:solidFill>
                <a:latin typeface="Space Mono"/>
                <a:ea typeface="Space Mono"/>
                <a:cs typeface="Space Mono"/>
                <a:sym typeface="Space Mono"/>
              </a:rPr>
              <a:t>Claims define the legal boundaries of the invention</a:t>
            </a:r>
          </a:p>
          <a:p>
            <a:pPr algn="just" marL="712575" indent="-356288" lvl="1">
              <a:lnSpc>
                <a:spcPts val="4620"/>
              </a:lnSpc>
              <a:buFont typeface="Arial"/>
              <a:buChar char="•"/>
            </a:pPr>
            <a:r>
              <a:rPr lang="en-US" sz="3300">
                <a:solidFill>
                  <a:srgbClr val="5E17EB"/>
                </a:solidFill>
                <a:latin typeface="Space Mono"/>
                <a:ea typeface="Space Mono"/>
                <a:cs typeface="Space Mono"/>
                <a:sym typeface="Space Mono"/>
              </a:rPr>
              <a:t>Single patents will have multiple claims to cover variations of the invention</a:t>
            </a:r>
          </a:p>
          <a:p>
            <a:pPr algn="l">
              <a:lnSpc>
                <a:spcPts val="4620"/>
              </a:lnSpc>
            </a:pPr>
          </a:p>
        </p:txBody>
      </p:sp>
      <p:sp>
        <p:nvSpPr>
          <p:cNvPr name="AutoShape 5" id="5"/>
          <p:cNvSpPr/>
          <p:nvPr/>
        </p:nvSpPr>
        <p:spPr>
          <a:xfrm>
            <a:off x="0" y="2111945"/>
            <a:ext cx="18323471" cy="0"/>
          </a:xfrm>
          <a:prstGeom prst="line">
            <a:avLst/>
          </a:prstGeom>
          <a:ln cap="flat" w="19050">
            <a:solidFill>
              <a:srgbClr val="FFFFFF"/>
            </a:solidFill>
            <a:prstDash val="solid"/>
            <a:headEnd type="none" len="sm" w="sm"/>
            <a:tailEnd type="none" len="sm" w="sm"/>
          </a:ln>
        </p:spPr>
      </p:sp>
      <p:sp>
        <p:nvSpPr>
          <p:cNvPr name="AutoShape 6" id="6"/>
          <p:cNvSpPr/>
          <p:nvPr/>
        </p:nvSpPr>
        <p:spPr>
          <a:xfrm>
            <a:off x="0" y="5560630"/>
            <a:ext cx="18323471" cy="0"/>
          </a:xfrm>
          <a:prstGeom prst="line">
            <a:avLst/>
          </a:prstGeom>
          <a:ln cap="flat" w="19050">
            <a:solidFill>
              <a:srgbClr val="FFFFFF"/>
            </a:solidFill>
            <a:prstDash val="solid"/>
            <a:headEnd type="none" len="sm" w="sm"/>
            <a:tailEnd type="none" len="sm" w="sm"/>
          </a:ln>
        </p:spPr>
      </p:sp>
      <p:sp>
        <p:nvSpPr>
          <p:cNvPr name="Freeform 7" id="7"/>
          <p:cNvSpPr/>
          <p:nvPr/>
        </p:nvSpPr>
        <p:spPr>
          <a:xfrm flipH="false" flipV="false" rot="0">
            <a:off x="12874581" y="6079079"/>
            <a:ext cx="4200230" cy="3179221"/>
          </a:xfrm>
          <a:custGeom>
            <a:avLst/>
            <a:gdLst/>
            <a:ahLst/>
            <a:cxnLst/>
            <a:rect r="r" b="b" t="t" l="l"/>
            <a:pathLst>
              <a:path h="3179221" w="4200230">
                <a:moveTo>
                  <a:pt x="0" y="0"/>
                </a:moveTo>
                <a:lnTo>
                  <a:pt x="4200230" y="0"/>
                </a:lnTo>
                <a:lnTo>
                  <a:pt x="4200230" y="3179221"/>
                </a:lnTo>
                <a:lnTo>
                  <a:pt x="0" y="31792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01745" y="595510"/>
            <a:ext cx="16884510" cy="904481"/>
          </a:xfrm>
          <a:prstGeom prst="rect">
            <a:avLst/>
          </a:prstGeom>
        </p:spPr>
        <p:txBody>
          <a:bodyPr anchor="t" rtlCol="false" tIns="0" lIns="0" bIns="0" rIns="0">
            <a:spAutoFit/>
          </a:bodyPr>
          <a:lstStyle/>
          <a:p>
            <a:pPr algn="l">
              <a:lnSpc>
                <a:spcPts val="7066"/>
              </a:lnSpc>
            </a:pPr>
            <a:r>
              <a:rPr lang="en-US" sz="6198">
                <a:solidFill>
                  <a:srgbClr val="5E17EB"/>
                </a:solidFill>
                <a:latin typeface="Space Mono"/>
                <a:ea typeface="Space Mono"/>
                <a:cs typeface="Space Mono"/>
                <a:sym typeface="Space Mono"/>
              </a:rPr>
              <a:t>Introduction to the Patents Dataset</a:t>
            </a:r>
          </a:p>
        </p:txBody>
      </p:sp>
      <p:sp>
        <p:nvSpPr>
          <p:cNvPr name="TextBox 9" id="9"/>
          <p:cNvSpPr txBox="true"/>
          <p:nvPr/>
        </p:nvSpPr>
        <p:spPr>
          <a:xfrm rot="0">
            <a:off x="1120593" y="5754427"/>
            <a:ext cx="14699042" cy="3503873"/>
          </a:xfrm>
          <a:prstGeom prst="rect">
            <a:avLst/>
          </a:prstGeom>
        </p:spPr>
        <p:txBody>
          <a:bodyPr anchor="t" rtlCol="false" tIns="0" lIns="0" bIns="0" rIns="0">
            <a:spAutoFit/>
          </a:bodyPr>
          <a:lstStyle/>
          <a:p>
            <a:pPr algn="just">
              <a:lnSpc>
                <a:spcPts val="3463"/>
              </a:lnSpc>
            </a:pPr>
            <a:r>
              <a:rPr lang="en-US" b="true" sz="3065" i="true">
                <a:solidFill>
                  <a:srgbClr val="5E17EB"/>
                </a:solidFill>
                <a:latin typeface="Space Mono Bold Italics"/>
                <a:ea typeface="Space Mono Bold Italics"/>
                <a:cs typeface="Space Mono Bold Italics"/>
                <a:sym typeface="Space Mono Bold Italics"/>
              </a:rPr>
              <a:t>Dataset information:</a:t>
            </a:r>
          </a:p>
          <a:p>
            <a:pPr algn="just">
              <a:lnSpc>
                <a:spcPts val="3463"/>
              </a:lnSpc>
            </a:pPr>
          </a:p>
          <a:p>
            <a:pPr algn="just">
              <a:lnSpc>
                <a:spcPts val="3463"/>
              </a:lnSpc>
            </a:pPr>
            <a:r>
              <a:rPr lang="en-US" sz="3065" i="true">
                <a:solidFill>
                  <a:srgbClr val="5E17EB"/>
                </a:solidFill>
                <a:latin typeface="Space Mono Italics"/>
                <a:ea typeface="Space Mono Italics"/>
                <a:cs typeface="Space Mono Italics"/>
                <a:sym typeface="Space Mono Italics"/>
              </a:rPr>
              <a:t>Date Range: </a:t>
            </a:r>
            <a:r>
              <a:rPr lang="en-US" sz="3065" i="true">
                <a:solidFill>
                  <a:srgbClr val="5E17EB"/>
                </a:solidFill>
                <a:latin typeface="Space Mono Italics"/>
                <a:ea typeface="Space Mono Italics"/>
                <a:cs typeface="Space Mono Italics"/>
                <a:sym typeface="Space Mono Italics"/>
              </a:rPr>
              <a:t>January 1, 2024 - June 30, 2025</a:t>
            </a:r>
          </a:p>
          <a:p>
            <a:pPr algn="just">
              <a:lnSpc>
                <a:spcPts val="3463"/>
              </a:lnSpc>
            </a:pPr>
            <a:r>
              <a:rPr lang="en-US" sz="3065" i="true">
                <a:solidFill>
                  <a:srgbClr val="5E17EB"/>
                </a:solidFill>
                <a:latin typeface="Space Mono Italics"/>
                <a:ea typeface="Space Mono Italics"/>
                <a:cs typeface="Space Mono Italics"/>
                <a:sym typeface="Space Mono Italics"/>
              </a:rPr>
              <a:t>Duration: 18 months (6 quarters)</a:t>
            </a:r>
          </a:p>
          <a:p>
            <a:pPr algn="just">
              <a:lnSpc>
                <a:spcPts val="3463"/>
              </a:lnSpc>
            </a:pPr>
          </a:p>
          <a:p>
            <a:pPr algn="just">
              <a:lnSpc>
                <a:spcPts val="3463"/>
              </a:lnSpc>
            </a:pPr>
            <a:r>
              <a:rPr lang="en-US" sz="3065" i="true">
                <a:solidFill>
                  <a:srgbClr val="5E17EB"/>
                </a:solidFill>
                <a:latin typeface="Space Mono Italics"/>
                <a:ea typeface="Space Mono Italics"/>
                <a:cs typeface="Space Mono Italics"/>
                <a:sym typeface="Space Mono Italics"/>
              </a:rPr>
              <a:t>Total unique patents: 554,777 </a:t>
            </a:r>
          </a:p>
          <a:p>
            <a:pPr algn="just">
              <a:lnSpc>
                <a:spcPts val="3463"/>
              </a:lnSpc>
            </a:pPr>
            <a:r>
              <a:rPr lang="en-US" sz="3065" i="true">
                <a:solidFill>
                  <a:srgbClr val="5E17EB"/>
                </a:solidFill>
                <a:latin typeface="Space Mono Italics"/>
                <a:ea typeface="Space Mono Italics"/>
                <a:cs typeface="Space Mono Italics"/>
                <a:sym typeface="Space Mono Italics"/>
              </a:rPr>
              <a:t>US unique patents: 226,878 </a:t>
            </a:r>
          </a:p>
          <a:p>
            <a:pPr algn="just">
              <a:lnSpc>
                <a:spcPts val="3463"/>
              </a:lnSpc>
            </a:pP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TextBox 4" id="4"/>
          <p:cNvSpPr txBox="true"/>
          <p:nvPr/>
        </p:nvSpPr>
        <p:spPr>
          <a:xfrm rot="0">
            <a:off x="2078095" y="2595244"/>
            <a:ext cx="14131809" cy="5877863"/>
          </a:xfrm>
          <a:prstGeom prst="rect">
            <a:avLst/>
          </a:prstGeom>
        </p:spPr>
        <p:txBody>
          <a:bodyPr anchor="t" rtlCol="false" tIns="0" lIns="0" bIns="0" rIns="0">
            <a:spAutoFit/>
          </a:bodyPr>
          <a:lstStyle/>
          <a:p>
            <a:pPr algn="l">
              <a:lnSpc>
                <a:spcPts val="4673"/>
              </a:lnSpc>
            </a:pPr>
            <a:r>
              <a:rPr lang="en-US" sz="3338">
                <a:solidFill>
                  <a:srgbClr val="5E17EB"/>
                </a:solidFill>
                <a:latin typeface="Space Mono"/>
                <a:ea typeface="Space Mono"/>
                <a:cs typeface="Space Mono"/>
                <a:sym typeface="Space Mono"/>
              </a:rPr>
              <a:t>Merged several of the PatentsView datasets into one combined table:</a:t>
            </a:r>
          </a:p>
          <a:p>
            <a:pPr algn="l">
              <a:lnSpc>
                <a:spcPts val="4673"/>
              </a:lnSpc>
            </a:pPr>
          </a:p>
          <a:p>
            <a:pPr algn="just" marL="1441379" indent="-480460" lvl="2">
              <a:lnSpc>
                <a:spcPts val="4673"/>
              </a:lnSpc>
              <a:buAutoNum type="alphaLcPeriod" startAt="1"/>
            </a:pPr>
            <a:r>
              <a:rPr lang="en-US" b="true" sz="3338">
                <a:solidFill>
                  <a:srgbClr val="5E17EB"/>
                </a:solidFill>
                <a:latin typeface="Space Mono Bold"/>
                <a:ea typeface="Space Mono Bold"/>
                <a:cs typeface="Space Mono Bold"/>
                <a:sym typeface="Space Mono Bold"/>
              </a:rPr>
              <a:t>Merge method:</a:t>
            </a:r>
            <a:r>
              <a:rPr lang="en-US" sz="3338">
                <a:solidFill>
                  <a:srgbClr val="5E17EB"/>
                </a:solidFill>
                <a:latin typeface="Space Mono"/>
                <a:ea typeface="Space Mono"/>
                <a:cs typeface="Space Mono"/>
                <a:sym typeface="Space Mono"/>
              </a:rPr>
              <a:t> patents merged by patent_id using left joins;</a:t>
            </a:r>
          </a:p>
          <a:p>
            <a:pPr algn="just" marL="1441379" indent="-480460" lvl="2">
              <a:lnSpc>
                <a:spcPts val="4673"/>
              </a:lnSpc>
              <a:buAutoNum type="alphaLcPeriod" startAt="1"/>
            </a:pPr>
            <a:r>
              <a:rPr lang="en-US" b="true" sz="3338">
                <a:solidFill>
                  <a:srgbClr val="5E17EB"/>
                </a:solidFill>
                <a:latin typeface="Space Mono Bold"/>
                <a:ea typeface="Space Mono Bold"/>
                <a:cs typeface="Space Mono Bold"/>
                <a:sym typeface="Space Mono Bold"/>
              </a:rPr>
              <a:t>Aggregation rules:</a:t>
            </a:r>
            <a:r>
              <a:rPr lang="en-US" sz="3338">
                <a:solidFill>
                  <a:srgbClr val="5E17EB"/>
                </a:solidFill>
                <a:latin typeface="Space Mono"/>
                <a:ea typeface="Space Mono"/>
                <a:cs typeface="Space Mono"/>
                <a:sym typeface="Space Mono"/>
              </a:rPr>
              <a:t> keep </a:t>
            </a:r>
            <a:r>
              <a:rPr lang="en-US" b="true" sz="3338">
                <a:solidFill>
                  <a:srgbClr val="5E17EB"/>
                </a:solidFill>
                <a:latin typeface="Space Mono Bold"/>
                <a:ea typeface="Space Mono Bold"/>
                <a:cs typeface="Space Mono Bold"/>
                <a:sym typeface="Space Mono Bold"/>
              </a:rPr>
              <a:t>first</a:t>
            </a:r>
            <a:r>
              <a:rPr lang="en-US" sz="3338">
                <a:solidFill>
                  <a:srgbClr val="5E17EB"/>
                </a:solidFill>
                <a:latin typeface="Space Mono"/>
                <a:ea typeface="Space Mono"/>
                <a:cs typeface="Space Mono"/>
                <a:sym typeface="Space Mono"/>
              </a:rPr>
              <a:t> assignee type and locations; organizations concatenated</a:t>
            </a:r>
          </a:p>
          <a:p>
            <a:pPr algn="just" marL="1441379" indent="-480460" lvl="2">
              <a:lnSpc>
                <a:spcPts val="4673"/>
              </a:lnSpc>
              <a:buAutoNum type="alphaLcPeriod" startAt="1"/>
            </a:pPr>
            <a:r>
              <a:rPr lang="en-US" b="true" sz="3338">
                <a:solidFill>
                  <a:srgbClr val="5E17EB"/>
                </a:solidFill>
                <a:latin typeface="Space Mono Bold"/>
                <a:ea typeface="Space Mono Bold"/>
                <a:cs typeface="Space Mono Bold"/>
                <a:sym typeface="Space Mono Bold"/>
              </a:rPr>
              <a:t>Bias risk:</a:t>
            </a:r>
            <a:r>
              <a:rPr lang="en-US" sz="3338">
                <a:solidFill>
                  <a:srgbClr val="5E17EB"/>
                </a:solidFill>
                <a:latin typeface="Space Mono"/>
                <a:ea typeface="Space Mono"/>
                <a:cs typeface="Space Mono"/>
                <a:sym typeface="Space Mono"/>
              </a:rPr>
              <a:t> 'first' entities may misrepresent all actors; missing data can skew technologies or time periods</a:t>
            </a:r>
          </a:p>
        </p:txBody>
      </p:sp>
      <p:sp>
        <p:nvSpPr>
          <p:cNvPr name="TextBox 5" id="5"/>
          <p:cNvSpPr txBox="true"/>
          <p:nvPr/>
        </p:nvSpPr>
        <p:spPr>
          <a:xfrm rot="0">
            <a:off x="1215705" y="1057275"/>
            <a:ext cx="15856589" cy="954192"/>
          </a:xfrm>
          <a:prstGeom prst="rect">
            <a:avLst/>
          </a:prstGeom>
        </p:spPr>
        <p:txBody>
          <a:bodyPr anchor="t" rtlCol="false" tIns="0" lIns="0" bIns="0" rIns="0">
            <a:spAutoFit/>
          </a:bodyPr>
          <a:lstStyle/>
          <a:p>
            <a:pPr algn="ctr">
              <a:lnSpc>
                <a:spcPts val="7411"/>
              </a:lnSpc>
            </a:pPr>
            <a:r>
              <a:rPr lang="en-US" sz="6501">
                <a:solidFill>
                  <a:srgbClr val="5E17EB"/>
                </a:solidFill>
                <a:latin typeface="Space Mono"/>
                <a:ea typeface="Space Mono"/>
                <a:cs typeface="Space Mono"/>
                <a:sym typeface="Space Mono"/>
              </a:rPr>
              <a:t>How I Built the Final Dataset</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TextBox 4" id="4"/>
          <p:cNvSpPr txBox="true"/>
          <p:nvPr/>
        </p:nvSpPr>
        <p:spPr>
          <a:xfrm rot="0">
            <a:off x="3265083" y="1066800"/>
            <a:ext cx="11757834" cy="1095362"/>
          </a:xfrm>
          <a:prstGeom prst="rect">
            <a:avLst/>
          </a:prstGeom>
        </p:spPr>
        <p:txBody>
          <a:bodyPr anchor="t" rtlCol="false" tIns="0" lIns="0" bIns="0" rIns="0">
            <a:spAutoFit/>
          </a:bodyPr>
          <a:lstStyle/>
          <a:p>
            <a:pPr algn="ctr">
              <a:lnSpc>
                <a:spcPts val="8548"/>
              </a:lnSpc>
            </a:pPr>
            <a:r>
              <a:rPr lang="en-US" sz="7498">
                <a:solidFill>
                  <a:srgbClr val="5E17EB"/>
                </a:solidFill>
                <a:latin typeface="Space Mono"/>
                <a:ea typeface="Space Mono"/>
                <a:cs typeface="Space Mono"/>
                <a:sym typeface="Space Mono"/>
              </a:rPr>
              <a:t>Feature Engineering</a:t>
            </a:r>
          </a:p>
        </p:txBody>
      </p:sp>
      <p:sp>
        <p:nvSpPr>
          <p:cNvPr name="TextBox 5" id="5"/>
          <p:cNvSpPr txBox="true"/>
          <p:nvPr/>
        </p:nvSpPr>
        <p:spPr>
          <a:xfrm rot="0">
            <a:off x="2431411" y="2803871"/>
            <a:ext cx="13425179" cy="5802092"/>
          </a:xfrm>
          <a:prstGeom prst="rect">
            <a:avLst/>
          </a:prstGeom>
        </p:spPr>
        <p:txBody>
          <a:bodyPr anchor="t" rtlCol="false" tIns="0" lIns="0" bIns="0" rIns="0">
            <a:spAutoFit/>
          </a:bodyPr>
          <a:lstStyle/>
          <a:p>
            <a:pPr algn="l">
              <a:lnSpc>
                <a:spcPts val="3599"/>
              </a:lnSpc>
            </a:pPr>
            <a:r>
              <a:rPr lang="en-US" sz="2571" b="true">
                <a:solidFill>
                  <a:srgbClr val="5E17EB"/>
                </a:solidFill>
                <a:latin typeface="Space Mono Bold"/>
                <a:ea typeface="Space Mono Bold"/>
                <a:cs typeface="Space Mono Bold"/>
                <a:sym typeface="Space Mono Bold"/>
              </a:rPr>
              <a:t>Technology categories:</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Mapped CPC codes to respective fields Physics, Electronics, etc.</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Created AI bucket (G06N, G06F, G06T, etc.)</a:t>
            </a:r>
          </a:p>
          <a:p>
            <a:pPr algn="l">
              <a:lnSpc>
                <a:spcPts val="3599"/>
              </a:lnSpc>
            </a:pPr>
          </a:p>
          <a:p>
            <a:pPr algn="l">
              <a:lnSpc>
                <a:spcPts val="3599"/>
              </a:lnSpc>
            </a:pPr>
            <a:r>
              <a:rPr lang="en-US" sz="2571" b="true">
                <a:solidFill>
                  <a:srgbClr val="5E17EB"/>
                </a:solidFill>
                <a:latin typeface="Space Mono Bold"/>
                <a:ea typeface="Space Mono Bold"/>
                <a:cs typeface="Space Mono Bold"/>
                <a:sym typeface="Space Mono Bold"/>
              </a:rPr>
              <a:t>Grouping features:</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Extracted year, quarters, months</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Extracted</a:t>
            </a:r>
            <a:r>
              <a:rPr lang="en-US" sz="2571">
                <a:solidFill>
                  <a:srgbClr val="5E17EB"/>
                </a:solidFill>
                <a:latin typeface="Space Mono"/>
                <a:ea typeface="Space Mono"/>
                <a:cs typeface="Space Mono"/>
                <a:sym typeface="Space Mono"/>
              </a:rPr>
              <a:t> US region (West, Northeast, etc.) from state</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Created continent groups from country</a:t>
            </a:r>
          </a:p>
          <a:p>
            <a:pPr algn="l">
              <a:lnSpc>
                <a:spcPts val="3599"/>
              </a:lnSpc>
            </a:pPr>
          </a:p>
          <a:p>
            <a:pPr algn="l">
              <a:lnSpc>
                <a:spcPts val="3599"/>
              </a:lnSpc>
            </a:pPr>
            <a:r>
              <a:rPr lang="en-US" sz="2571" b="true">
                <a:solidFill>
                  <a:srgbClr val="5E17EB"/>
                </a:solidFill>
                <a:latin typeface="Space Mono Bold"/>
                <a:ea typeface="Space Mono Bold"/>
                <a:cs typeface="Space Mono Bold"/>
                <a:sym typeface="Space Mono Bold"/>
              </a:rPr>
              <a:t>Structural features:</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Derived </a:t>
            </a:r>
            <a:r>
              <a:rPr lang="en-US" b="true" sz="2571">
                <a:solidFill>
                  <a:srgbClr val="5E17EB"/>
                </a:solidFill>
                <a:latin typeface="Space Mono Bold"/>
                <a:ea typeface="Space Mono Bold"/>
                <a:cs typeface="Space Mono Bold"/>
                <a:sym typeface="Space Mono Bold"/>
              </a:rPr>
              <a:t>patent complexity score</a:t>
            </a:r>
            <a:r>
              <a:rPr lang="en-US" sz="2571">
                <a:solidFill>
                  <a:srgbClr val="5E17EB"/>
                </a:solidFill>
                <a:latin typeface="Space Mono"/>
                <a:ea typeface="Space Mono"/>
                <a:cs typeface="Space Mono"/>
                <a:sym typeface="Space Mono"/>
              </a:rPr>
              <a:t> (from claims + figures)</a:t>
            </a:r>
          </a:p>
          <a:p>
            <a:pPr algn="l" marL="555116" indent="-277558" lvl="1">
              <a:lnSpc>
                <a:spcPts val="3599"/>
              </a:lnSpc>
              <a:buFont typeface="Arial"/>
              <a:buChar char="•"/>
            </a:pPr>
            <a:r>
              <a:rPr lang="en-US" sz="2571">
                <a:solidFill>
                  <a:srgbClr val="5E17EB"/>
                </a:solidFill>
                <a:latin typeface="Space Mono"/>
                <a:ea typeface="Space Mono"/>
                <a:cs typeface="Space Mono"/>
                <a:sym typeface="Space Mono"/>
              </a:rPr>
              <a:t>Mapped academic institutions from assignee name and extracted from companies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067693" y="772990"/>
            <a:ext cx="14391649" cy="7195825"/>
          </a:xfrm>
          <a:custGeom>
            <a:avLst/>
            <a:gdLst/>
            <a:ahLst/>
            <a:cxnLst/>
            <a:rect r="r" b="b" t="t" l="l"/>
            <a:pathLst>
              <a:path h="7195825" w="14391649">
                <a:moveTo>
                  <a:pt x="0" y="0"/>
                </a:moveTo>
                <a:lnTo>
                  <a:pt x="14391650" y="0"/>
                </a:lnTo>
                <a:lnTo>
                  <a:pt x="14391650" y="7195825"/>
                </a:lnTo>
                <a:lnTo>
                  <a:pt x="0" y="7195825"/>
                </a:lnTo>
                <a:lnTo>
                  <a:pt x="0" y="0"/>
                </a:lnTo>
                <a:close/>
              </a:path>
            </a:pathLst>
          </a:custGeom>
          <a:blipFill>
            <a:blip r:embed="rId3"/>
            <a:stretch>
              <a:fillRect l="0" t="0" r="0" b="0"/>
            </a:stretch>
          </a:blipFill>
        </p:spPr>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381886" y="631937"/>
            <a:ext cx="13457573" cy="7690042"/>
          </a:xfrm>
          <a:custGeom>
            <a:avLst/>
            <a:gdLst/>
            <a:ahLst/>
            <a:cxnLst/>
            <a:rect r="r" b="b" t="t" l="l"/>
            <a:pathLst>
              <a:path h="7690042" w="13457573">
                <a:moveTo>
                  <a:pt x="0" y="0"/>
                </a:moveTo>
                <a:lnTo>
                  <a:pt x="13457574" y="0"/>
                </a:lnTo>
                <a:lnTo>
                  <a:pt x="13457574" y="7690042"/>
                </a:lnTo>
                <a:lnTo>
                  <a:pt x="0" y="7690042"/>
                </a:lnTo>
                <a:lnTo>
                  <a:pt x="0" y="0"/>
                </a:lnTo>
                <a:close/>
              </a:path>
            </a:pathLst>
          </a:custGeom>
          <a:blipFill>
            <a:blip r:embed="rId3"/>
            <a:stretch>
              <a:fillRect l="0" t="0" r="0" b="0"/>
            </a:stretch>
          </a:blipFill>
        </p:spPr>
      </p:sp>
      <p:sp>
        <p:nvSpPr>
          <p:cNvPr name="TextBox 6" id="6"/>
          <p:cNvSpPr txBox="true"/>
          <p:nvPr/>
        </p:nvSpPr>
        <p:spPr>
          <a:xfrm rot="0">
            <a:off x="382749" y="9191625"/>
            <a:ext cx="17522503"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Patent activity is stable across quarters, with Electronics and Computing dominating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1798963" y="1028700"/>
            <a:ext cx="14609957" cy="7304978"/>
          </a:xfrm>
          <a:custGeom>
            <a:avLst/>
            <a:gdLst/>
            <a:ahLst/>
            <a:cxnLst/>
            <a:rect r="r" b="b" t="t" l="l"/>
            <a:pathLst>
              <a:path h="7304978" w="14609957">
                <a:moveTo>
                  <a:pt x="0" y="0"/>
                </a:moveTo>
                <a:lnTo>
                  <a:pt x="14609957" y="0"/>
                </a:lnTo>
                <a:lnTo>
                  <a:pt x="14609957" y="7304978"/>
                </a:lnTo>
                <a:lnTo>
                  <a:pt x="0" y="7304978"/>
                </a:lnTo>
                <a:lnTo>
                  <a:pt x="0" y="0"/>
                </a:lnTo>
                <a:close/>
              </a:path>
            </a:pathLst>
          </a:custGeom>
          <a:blipFill>
            <a:blip r:embed="rId3"/>
            <a:stretch>
              <a:fillRect l="0" t="0" r="0" b="0"/>
            </a:stretch>
          </a:blipFill>
        </p:spPr>
      </p:sp>
      <p:sp>
        <p:nvSpPr>
          <p:cNvPr name="TextBox 6" id="6"/>
          <p:cNvSpPr txBox="true"/>
          <p:nvPr/>
        </p:nvSpPr>
        <p:spPr>
          <a:xfrm rot="0">
            <a:off x="0" y="8815493"/>
            <a:ext cx="18288000" cy="941289"/>
          </a:xfrm>
          <a:prstGeom prst="rect">
            <a:avLst/>
          </a:prstGeom>
        </p:spPr>
        <p:txBody>
          <a:bodyPr anchor="t" rtlCol="false" tIns="0" lIns="0" bIns="0" rIns="0">
            <a:spAutoFit/>
          </a:bodyPr>
          <a:lstStyle/>
          <a:p>
            <a:pPr algn="ctr">
              <a:lnSpc>
                <a:spcPts val="3767"/>
              </a:lnSpc>
              <a:spcBef>
                <a:spcPct val="0"/>
              </a:spcBef>
            </a:pPr>
            <a:r>
              <a:rPr lang="en-US" sz="2691">
                <a:solidFill>
                  <a:srgbClr val="000000"/>
                </a:solidFill>
                <a:latin typeface="Canva Sans"/>
                <a:ea typeface="Canva Sans"/>
                <a:cs typeface="Canva Sans"/>
                <a:sym typeface="Canva Sans"/>
              </a:rPr>
              <a:t>After removing extreme outliers, the distribution of claim counts becomes much clearer and more realistic, with the central range now representing typical patents rather than being stretched by rare high-claim cases.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1500169" y="655699"/>
            <a:ext cx="15355958" cy="7677979"/>
          </a:xfrm>
          <a:custGeom>
            <a:avLst/>
            <a:gdLst/>
            <a:ahLst/>
            <a:cxnLst/>
            <a:rect r="r" b="b" t="t" l="l"/>
            <a:pathLst>
              <a:path h="7677979" w="15355958">
                <a:moveTo>
                  <a:pt x="0" y="0"/>
                </a:moveTo>
                <a:lnTo>
                  <a:pt x="15355958" y="0"/>
                </a:lnTo>
                <a:lnTo>
                  <a:pt x="15355958" y="7677979"/>
                </a:lnTo>
                <a:lnTo>
                  <a:pt x="0" y="767797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794944" y="968972"/>
            <a:ext cx="13650407" cy="6825204"/>
          </a:xfrm>
          <a:custGeom>
            <a:avLst/>
            <a:gdLst/>
            <a:ahLst/>
            <a:cxnLst/>
            <a:rect r="r" b="b" t="t" l="l"/>
            <a:pathLst>
              <a:path h="6825204" w="13650407">
                <a:moveTo>
                  <a:pt x="0" y="0"/>
                </a:moveTo>
                <a:lnTo>
                  <a:pt x="13650407" y="0"/>
                </a:lnTo>
                <a:lnTo>
                  <a:pt x="13650407" y="6825203"/>
                </a:lnTo>
                <a:lnTo>
                  <a:pt x="0" y="6825203"/>
                </a:lnTo>
                <a:lnTo>
                  <a:pt x="0" y="0"/>
                </a:lnTo>
                <a:close/>
              </a:path>
            </a:pathLst>
          </a:custGeom>
          <a:blipFill>
            <a:blip r:embed="rId3"/>
            <a:stretch>
              <a:fillRect l="0" t="0" r="0" b="0"/>
            </a:stretch>
          </a:blipFill>
        </p:spPr>
      </p:sp>
      <p:sp>
        <p:nvSpPr>
          <p:cNvPr name="TextBox 6" id="6"/>
          <p:cNvSpPr txBox="true"/>
          <p:nvPr/>
        </p:nvSpPr>
        <p:spPr>
          <a:xfrm rot="0">
            <a:off x="14811486" y="1722652"/>
            <a:ext cx="3284061" cy="5454153"/>
          </a:xfrm>
          <a:prstGeom prst="rect">
            <a:avLst/>
          </a:prstGeom>
        </p:spPr>
        <p:txBody>
          <a:bodyPr anchor="t" rtlCol="false" tIns="0" lIns="0" bIns="0" rIns="0">
            <a:spAutoFit/>
          </a:bodyPr>
          <a:lstStyle/>
          <a:p>
            <a:pPr algn="ctr">
              <a:lnSpc>
                <a:spcPts val="2896"/>
              </a:lnSpc>
              <a:spcBef>
                <a:spcPct val="0"/>
              </a:spcBef>
            </a:pPr>
            <a:r>
              <a:rPr lang="en-US" sz="2069">
                <a:solidFill>
                  <a:srgbClr val="000000"/>
                </a:solidFill>
                <a:latin typeface="Canva Sans"/>
                <a:ea typeface="Canva Sans"/>
                <a:cs typeface="Canva Sans"/>
                <a:sym typeface="Canva Sans"/>
              </a:rPr>
              <a:t>This rug plot shows the distribution of the number of claims for Northeast patents. </a:t>
            </a:r>
          </a:p>
          <a:p>
            <a:pPr algn="ctr">
              <a:lnSpc>
                <a:spcPts val="2896"/>
              </a:lnSpc>
              <a:spcBef>
                <a:spcPct val="0"/>
              </a:spcBef>
            </a:pPr>
            <a:r>
              <a:rPr lang="en-US" sz="2069">
                <a:solidFill>
                  <a:srgbClr val="000000"/>
                </a:solidFill>
                <a:latin typeface="Canva Sans"/>
                <a:ea typeface="Canva Sans"/>
                <a:cs typeface="Canva Sans"/>
                <a:sym typeface="Canva Sans"/>
              </a:rPr>
              <a:t>Each tick marks an individual patent’s claim count so you can see both the overall shape and the exact locations where patents are concentrated.</a:t>
            </a:r>
          </a:p>
          <a:p>
            <a:pPr algn="ctr">
              <a:lnSpc>
                <a:spcPts val="2896"/>
              </a:lnSpc>
              <a:spcBef>
                <a:spcPct val="0"/>
              </a:spcBef>
            </a:pPr>
            <a:r>
              <a:rPr lang="en-US" sz="2069">
                <a:solidFill>
                  <a:srgbClr val="000000"/>
                </a:solidFill>
                <a:latin typeface="Canva Sans"/>
                <a:ea typeface="Canva Sans"/>
                <a:cs typeface="Canva Sans"/>
                <a:sym typeface="Canva Sans"/>
              </a:rPr>
              <a:t>The density curve is a smoothed estimate of the underlying distribution of values.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003718" y="556273"/>
            <a:ext cx="14229882" cy="7998664"/>
          </a:xfrm>
          <a:custGeom>
            <a:avLst/>
            <a:gdLst/>
            <a:ahLst/>
            <a:cxnLst/>
            <a:rect r="r" b="b" t="t" l="l"/>
            <a:pathLst>
              <a:path h="7998664" w="14229882">
                <a:moveTo>
                  <a:pt x="0" y="0"/>
                </a:moveTo>
                <a:lnTo>
                  <a:pt x="14229882" y="0"/>
                </a:lnTo>
                <a:lnTo>
                  <a:pt x="14229882" y="7998664"/>
                </a:lnTo>
                <a:lnTo>
                  <a:pt x="0" y="7998664"/>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1033699" y="1028700"/>
            <a:ext cx="11833559" cy="7100135"/>
          </a:xfrm>
          <a:custGeom>
            <a:avLst/>
            <a:gdLst/>
            <a:ahLst/>
            <a:cxnLst/>
            <a:rect r="r" b="b" t="t" l="l"/>
            <a:pathLst>
              <a:path h="7100135" w="11833559">
                <a:moveTo>
                  <a:pt x="0" y="0"/>
                </a:moveTo>
                <a:lnTo>
                  <a:pt x="11833559" y="0"/>
                </a:lnTo>
                <a:lnTo>
                  <a:pt x="11833559" y="7100135"/>
                </a:lnTo>
                <a:lnTo>
                  <a:pt x="0" y="7100135"/>
                </a:lnTo>
                <a:lnTo>
                  <a:pt x="0" y="0"/>
                </a:lnTo>
                <a:close/>
              </a:path>
            </a:pathLst>
          </a:custGeom>
          <a:blipFill>
            <a:blip r:embed="rId3"/>
            <a:stretch>
              <a:fillRect l="0" t="0" r="0" b="0"/>
            </a:stretch>
          </a:blipFill>
        </p:spPr>
      </p:sp>
      <p:sp>
        <p:nvSpPr>
          <p:cNvPr name="TextBox 6" id="6"/>
          <p:cNvSpPr txBox="true"/>
          <p:nvPr/>
        </p:nvSpPr>
        <p:spPr>
          <a:xfrm rot="0">
            <a:off x="14231280" y="1907476"/>
            <a:ext cx="3265272" cy="4587222"/>
          </a:xfrm>
          <a:prstGeom prst="rect">
            <a:avLst/>
          </a:prstGeom>
        </p:spPr>
        <p:txBody>
          <a:bodyPr anchor="t" rtlCol="false" tIns="0" lIns="0" bIns="0" rIns="0">
            <a:spAutoFit/>
          </a:bodyPr>
          <a:lstStyle/>
          <a:p>
            <a:pPr algn="ctr">
              <a:lnSpc>
                <a:spcPts val="3361"/>
              </a:lnSpc>
              <a:spcBef>
                <a:spcPct val="0"/>
              </a:spcBef>
            </a:pPr>
            <a:r>
              <a:rPr lang="en-US" sz="2400">
                <a:solidFill>
                  <a:srgbClr val="000000"/>
                </a:solidFill>
                <a:latin typeface="Canva Sans"/>
                <a:ea typeface="Canva Sans"/>
                <a:cs typeface="Canva Sans"/>
                <a:sym typeface="Canva Sans"/>
              </a:rPr>
              <a:t>V</a:t>
            </a:r>
            <a:r>
              <a:rPr lang="en-US" sz="2400">
                <a:solidFill>
                  <a:srgbClr val="000000"/>
                </a:solidFill>
                <a:latin typeface="Canva Sans"/>
                <a:ea typeface="Canva Sans"/>
                <a:cs typeface="Canva Sans"/>
                <a:sym typeface="Canva Sans"/>
              </a:rPr>
              <a:t>iolin plot shows the full distribution of the number of claims for corporate versus academic patents, where each “violin” represents how claim counts are spread within that group (its typical values, spread, and tails)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1653835" y="805097"/>
            <a:ext cx="15057164" cy="7528582"/>
          </a:xfrm>
          <a:custGeom>
            <a:avLst/>
            <a:gdLst/>
            <a:ahLst/>
            <a:cxnLst/>
            <a:rect r="r" b="b" t="t" l="l"/>
            <a:pathLst>
              <a:path h="7528582" w="15057164">
                <a:moveTo>
                  <a:pt x="0" y="0"/>
                </a:moveTo>
                <a:lnTo>
                  <a:pt x="15057163" y="0"/>
                </a:lnTo>
                <a:lnTo>
                  <a:pt x="15057163" y="7528581"/>
                </a:lnTo>
                <a:lnTo>
                  <a:pt x="0" y="7528581"/>
                </a:lnTo>
                <a:lnTo>
                  <a:pt x="0" y="0"/>
                </a:lnTo>
                <a:close/>
              </a:path>
            </a:pathLst>
          </a:custGeom>
          <a:blipFill>
            <a:blip r:embed="rId3"/>
            <a:stretch>
              <a:fillRect l="0" t="0" r="0" b="0"/>
            </a:stretch>
          </a:blipFill>
        </p:spPr>
      </p:sp>
      <p:sp>
        <p:nvSpPr>
          <p:cNvPr name="TextBox 6" id="6"/>
          <p:cNvSpPr txBox="true"/>
          <p:nvPr/>
        </p:nvSpPr>
        <p:spPr>
          <a:xfrm rot="0">
            <a:off x="1067116" y="8736002"/>
            <a:ext cx="1623060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Corporate innovation skews toward computing and electronics, while academia leans toward human-centric and chemical technologies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971800" y="844826"/>
            <a:ext cx="11723023" cy="7815349"/>
          </a:xfrm>
          <a:custGeom>
            <a:avLst/>
            <a:gdLst/>
            <a:ahLst/>
            <a:cxnLst/>
            <a:rect r="r" b="b" t="t" l="l"/>
            <a:pathLst>
              <a:path h="7815349" w="11723023">
                <a:moveTo>
                  <a:pt x="0" y="0"/>
                </a:moveTo>
                <a:lnTo>
                  <a:pt x="11723023" y="0"/>
                </a:lnTo>
                <a:lnTo>
                  <a:pt x="11723023" y="7815349"/>
                </a:lnTo>
                <a:lnTo>
                  <a:pt x="0" y="7815349"/>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420478" y="811184"/>
            <a:ext cx="12790270" cy="7460991"/>
          </a:xfrm>
          <a:custGeom>
            <a:avLst/>
            <a:gdLst/>
            <a:ahLst/>
            <a:cxnLst/>
            <a:rect r="r" b="b" t="t" l="l"/>
            <a:pathLst>
              <a:path h="7460991" w="12790270">
                <a:moveTo>
                  <a:pt x="0" y="0"/>
                </a:moveTo>
                <a:lnTo>
                  <a:pt x="12790270" y="0"/>
                </a:lnTo>
                <a:lnTo>
                  <a:pt x="12790270" y="7460990"/>
                </a:lnTo>
                <a:lnTo>
                  <a:pt x="0" y="7460990"/>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490721" y="577360"/>
            <a:ext cx="13118125" cy="7652240"/>
          </a:xfrm>
          <a:custGeom>
            <a:avLst/>
            <a:gdLst/>
            <a:ahLst/>
            <a:cxnLst/>
            <a:rect r="r" b="b" t="t" l="l"/>
            <a:pathLst>
              <a:path h="7652240" w="13118125">
                <a:moveTo>
                  <a:pt x="0" y="0"/>
                </a:moveTo>
                <a:lnTo>
                  <a:pt x="13118125" y="0"/>
                </a:lnTo>
                <a:lnTo>
                  <a:pt x="13118125" y="7652240"/>
                </a:lnTo>
                <a:lnTo>
                  <a:pt x="0" y="7652240"/>
                </a:lnTo>
                <a:lnTo>
                  <a:pt x="0" y="0"/>
                </a:lnTo>
                <a:close/>
              </a:path>
            </a:pathLst>
          </a:custGeom>
          <a:blipFill>
            <a:blip r:embed="rId3"/>
            <a:stretch>
              <a:fillRect l="0" t="0" r="0" b="0"/>
            </a:stretch>
          </a:blipFill>
        </p:spPr>
      </p:sp>
      <p:sp>
        <p:nvSpPr>
          <p:cNvPr name="TextBox 6" id="6"/>
          <p:cNvSpPr txBox="true"/>
          <p:nvPr/>
        </p:nvSpPr>
        <p:spPr>
          <a:xfrm rot="0">
            <a:off x="934483" y="8908244"/>
            <a:ext cx="1623060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All regions show the same monthly pattern, but the West’s high volume dominates the national claim trend.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3090808" y="487465"/>
            <a:ext cx="11751771" cy="7834514"/>
          </a:xfrm>
          <a:custGeom>
            <a:avLst/>
            <a:gdLst/>
            <a:ahLst/>
            <a:cxnLst/>
            <a:rect r="r" b="b" t="t" l="l"/>
            <a:pathLst>
              <a:path h="7834514" w="11751771">
                <a:moveTo>
                  <a:pt x="0" y="0"/>
                </a:moveTo>
                <a:lnTo>
                  <a:pt x="11751771" y="0"/>
                </a:lnTo>
                <a:lnTo>
                  <a:pt x="11751771" y="7834514"/>
                </a:lnTo>
                <a:lnTo>
                  <a:pt x="0" y="7834514"/>
                </a:lnTo>
                <a:lnTo>
                  <a:pt x="0" y="0"/>
                </a:lnTo>
                <a:close/>
              </a:path>
            </a:pathLst>
          </a:custGeom>
          <a:blipFill>
            <a:blip r:embed="rId3"/>
            <a:stretch>
              <a:fillRect l="0" t="0" r="0" b="0"/>
            </a:stretch>
          </a:blipFill>
        </p:spPr>
      </p:sp>
      <p:sp>
        <p:nvSpPr>
          <p:cNvPr name="TextBox 6" id="6"/>
          <p:cNvSpPr txBox="true"/>
          <p:nvPr/>
        </p:nvSpPr>
        <p:spPr>
          <a:xfrm rot="0">
            <a:off x="851393" y="8866649"/>
            <a:ext cx="1623060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The top patent holders are dominated by major electronics and semiconductor companies, with Samsung Display far ahead of the rest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3128207" y="680740"/>
            <a:ext cx="11628524" cy="7747504"/>
          </a:xfrm>
          <a:custGeom>
            <a:avLst/>
            <a:gdLst/>
            <a:ahLst/>
            <a:cxnLst/>
            <a:rect r="r" b="b" t="t" l="l"/>
            <a:pathLst>
              <a:path h="7747504" w="11628524">
                <a:moveTo>
                  <a:pt x="0" y="0"/>
                </a:moveTo>
                <a:lnTo>
                  <a:pt x="11628525" y="0"/>
                </a:lnTo>
                <a:lnTo>
                  <a:pt x="11628525" y="7747505"/>
                </a:lnTo>
                <a:lnTo>
                  <a:pt x="0" y="7747505"/>
                </a:lnTo>
                <a:lnTo>
                  <a:pt x="0" y="0"/>
                </a:lnTo>
                <a:close/>
              </a:path>
            </a:pathLst>
          </a:custGeom>
          <a:blipFill>
            <a:blip r:embed="rId3"/>
            <a:stretch>
              <a:fillRect l="0" t="0" r="0" b="0"/>
            </a:stretch>
          </a:blipFill>
        </p:spPr>
      </p:sp>
      <p:sp>
        <p:nvSpPr>
          <p:cNvPr name="TextBox 6" id="6"/>
          <p:cNvSpPr txBox="true"/>
          <p:nvPr/>
        </p:nvSpPr>
        <p:spPr>
          <a:xfrm rot="0">
            <a:off x="1314778" y="8764577"/>
            <a:ext cx="16407161" cy="1276106"/>
          </a:xfrm>
          <a:prstGeom prst="rect">
            <a:avLst/>
          </a:prstGeom>
        </p:spPr>
        <p:txBody>
          <a:bodyPr anchor="t" rtlCol="false" tIns="0" lIns="0" bIns="0" rIns="0">
            <a:spAutoFit/>
          </a:bodyPr>
          <a:lstStyle/>
          <a:p>
            <a:pPr algn="ctr">
              <a:lnSpc>
                <a:spcPts val="3430"/>
              </a:lnSpc>
              <a:spcBef>
                <a:spcPct val="0"/>
              </a:spcBef>
            </a:pPr>
            <a:r>
              <a:rPr lang="en-US" sz="2450">
                <a:solidFill>
                  <a:srgbClr val="000000"/>
                </a:solidFill>
                <a:latin typeface="Canva Sans"/>
                <a:ea typeface="Canva Sans"/>
                <a:cs typeface="Canva Sans"/>
                <a:sym typeface="Canva Sans"/>
              </a:rPr>
              <a:t>C</a:t>
            </a:r>
            <a:r>
              <a:rPr lang="en-US" sz="2450">
                <a:solidFill>
                  <a:srgbClr val="000000"/>
                </a:solidFill>
                <a:latin typeface="Canva Sans"/>
                <a:ea typeface="Canva Sans"/>
                <a:cs typeface="Canva Sans"/>
                <a:sym typeface="Canva Sans"/>
              </a:rPr>
              <a:t>luster map shows that regions share similar technology profiles, with the West and Northeast clustering together on electronics and computing, while the Midwest and Southeast lean more toward human-necessities and mechanical technologies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448540" y="645071"/>
            <a:ext cx="13434589" cy="7676908"/>
          </a:xfrm>
          <a:custGeom>
            <a:avLst/>
            <a:gdLst/>
            <a:ahLst/>
            <a:cxnLst/>
            <a:rect r="r" b="b" t="t" l="l"/>
            <a:pathLst>
              <a:path h="7676908" w="13434589">
                <a:moveTo>
                  <a:pt x="0" y="0"/>
                </a:moveTo>
                <a:lnTo>
                  <a:pt x="13434590" y="0"/>
                </a:lnTo>
                <a:lnTo>
                  <a:pt x="13434590" y="7676908"/>
                </a:lnTo>
                <a:lnTo>
                  <a:pt x="0" y="7676908"/>
                </a:lnTo>
                <a:lnTo>
                  <a:pt x="0" y="0"/>
                </a:lnTo>
                <a:close/>
              </a:path>
            </a:pathLst>
          </a:custGeom>
          <a:blipFill>
            <a:blip r:embed="rId3"/>
            <a:stretch>
              <a:fillRect l="0" t="0" r="0" b="0"/>
            </a:stretch>
          </a:blipFill>
        </p:spPr>
      </p:sp>
      <p:sp>
        <p:nvSpPr>
          <p:cNvPr name="TextBox 6" id="6"/>
          <p:cNvSpPr txBox="true"/>
          <p:nvPr/>
        </p:nvSpPr>
        <p:spPr>
          <a:xfrm rot="0">
            <a:off x="842649" y="8917539"/>
            <a:ext cx="16602701" cy="1163094"/>
          </a:xfrm>
          <a:prstGeom prst="rect">
            <a:avLst/>
          </a:prstGeom>
        </p:spPr>
        <p:txBody>
          <a:bodyPr anchor="t" rtlCol="false" tIns="0" lIns="0" bIns="0" rIns="0">
            <a:spAutoFit/>
          </a:bodyPr>
          <a:lstStyle/>
          <a:p>
            <a:pPr algn="ctr">
              <a:lnSpc>
                <a:spcPts val="4667"/>
              </a:lnSpc>
              <a:spcBef>
                <a:spcPct val="0"/>
              </a:spcBef>
            </a:pPr>
            <a:r>
              <a:rPr lang="en-US" sz="3333">
                <a:solidFill>
                  <a:srgbClr val="000000"/>
                </a:solidFill>
                <a:latin typeface="Canva Sans"/>
                <a:ea typeface="Canva Sans"/>
                <a:cs typeface="Canva Sans"/>
                <a:sym typeface="Canva Sans"/>
              </a:rPr>
              <a:t>Although the West leads by a wide margin in nearly every AI domain, the Midwest shows a relative strength in pattern recognition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2772483" y="855449"/>
            <a:ext cx="12373398" cy="7424039"/>
          </a:xfrm>
          <a:custGeom>
            <a:avLst/>
            <a:gdLst/>
            <a:ahLst/>
            <a:cxnLst/>
            <a:rect r="r" b="b" t="t" l="l"/>
            <a:pathLst>
              <a:path h="7424039" w="12373398">
                <a:moveTo>
                  <a:pt x="0" y="0"/>
                </a:moveTo>
                <a:lnTo>
                  <a:pt x="12373398" y="0"/>
                </a:lnTo>
                <a:lnTo>
                  <a:pt x="12373398" y="7424039"/>
                </a:lnTo>
                <a:lnTo>
                  <a:pt x="0" y="7424039"/>
                </a:lnTo>
                <a:lnTo>
                  <a:pt x="0" y="0"/>
                </a:lnTo>
                <a:close/>
              </a:path>
            </a:pathLst>
          </a:custGeom>
          <a:blipFill>
            <a:blip r:embed="rId3"/>
            <a:stretch>
              <a:fillRect l="0" t="0" r="0" b="0"/>
            </a:stretch>
          </a:blipFill>
        </p:spPr>
      </p:sp>
      <p:sp>
        <p:nvSpPr>
          <p:cNvPr name="TextBox 6" id="6"/>
          <p:cNvSpPr txBox="true"/>
          <p:nvPr/>
        </p:nvSpPr>
        <p:spPr>
          <a:xfrm rot="0">
            <a:off x="0" y="8878577"/>
            <a:ext cx="1828800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In this dataset, citation counts for utility patents were set to zero, still design patents show a much wider spread of citations than reissue or plant patents.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3265714" y="443143"/>
            <a:ext cx="11123510" cy="7786457"/>
          </a:xfrm>
          <a:custGeom>
            <a:avLst/>
            <a:gdLst/>
            <a:ahLst/>
            <a:cxnLst/>
            <a:rect r="r" b="b" t="t" l="l"/>
            <a:pathLst>
              <a:path h="7786457" w="11123510">
                <a:moveTo>
                  <a:pt x="0" y="0"/>
                </a:moveTo>
                <a:lnTo>
                  <a:pt x="11123511" y="0"/>
                </a:lnTo>
                <a:lnTo>
                  <a:pt x="11123511" y="7786457"/>
                </a:lnTo>
                <a:lnTo>
                  <a:pt x="0" y="7786457"/>
                </a:lnTo>
                <a:lnTo>
                  <a:pt x="0" y="0"/>
                </a:lnTo>
                <a:close/>
              </a:path>
            </a:pathLst>
          </a:custGeom>
          <a:blipFill>
            <a:blip r:embed="rId3"/>
            <a:stretch>
              <a:fillRect l="0" t="0" r="0" b="0"/>
            </a:stretch>
          </a:blipFill>
        </p:spPr>
      </p:sp>
      <p:sp>
        <p:nvSpPr>
          <p:cNvPr name="TextBox 6" id="6"/>
          <p:cNvSpPr txBox="true"/>
          <p:nvPr/>
        </p:nvSpPr>
        <p:spPr>
          <a:xfrm rot="0">
            <a:off x="1299070" y="8887446"/>
            <a:ext cx="1623060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This contour plot shows that patents with more claims also tend to include more figures, suggesting increasing technical detail as claim count grows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3546686" y="407684"/>
            <a:ext cx="10665334" cy="7999001"/>
          </a:xfrm>
          <a:custGeom>
            <a:avLst/>
            <a:gdLst/>
            <a:ahLst/>
            <a:cxnLst/>
            <a:rect r="r" b="b" t="t" l="l"/>
            <a:pathLst>
              <a:path h="7999001" w="10665334">
                <a:moveTo>
                  <a:pt x="0" y="0"/>
                </a:moveTo>
                <a:lnTo>
                  <a:pt x="10665334" y="0"/>
                </a:lnTo>
                <a:lnTo>
                  <a:pt x="10665334" y="7999001"/>
                </a:lnTo>
                <a:lnTo>
                  <a:pt x="0" y="7999001"/>
                </a:lnTo>
                <a:lnTo>
                  <a:pt x="0" y="0"/>
                </a:lnTo>
                <a:close/>
              </a:path>
            </a:pathLst>
          </a:custGeom>
          <a:blipFill>
            <a:blip r:embed="rId3"/>
            <a:stretch>
              <a:fillRect l="0" t="0" r="0" b="0"/>
            </a:stretch>
          </a:blipFill>
        </p:spPr>
      </p:sp>
      <p:sp>
        <p:nvSpPr>
          <p:cNvPr name="TextBox 6" id="6"/>
          <p:cNvSpPr txBox="true"/>
          <p:nvPr/>
        </p:nvSpPr>
        <p:spPr>
          <a:xfrm rot="0">
            <a:off x="362615" y="8922745"/>
            <a:ext cx="17562771" cy="1136297"/>
          </a:xfrm>
          <a:prstGeom prst="rect">
            <a:avLst/>
          </a:prstGeom>
        </p:spPr>
        <p:txBody>
          <a:bodyPr anchor="t" rtlCol="false" tIns="0" lIns="0" bIns="0" rIns="0">
            <a:spAutoFit/>
          </a:bodyPr>
          <a:lstStyle/>
          <a:p>
            <a:pPr algn="ctr">
              <a:lnSpc>
                <a:spcPts val="4571"/>
              </a:lnSpc>
              <a:spcBef>
                <a:spcPct val="0"/>
              </a:spcBef>
            </a:pPr>
            <a:r>
              <a:rPr lang="en-US" sz="3265">
                <a:solidFill>
                  <a:srgbClr val="000000"/>
                </a:solidFill>
                <a:latin typeface="Canva Sans"/>
                <a:ea typeface="Canva Sans"/>
                <a:cs typeface="Canva Sans"/>
                <a:sym typeface="Canva Sans"/>
              </a:rPr>
              <a:t>I </a:t>
            </a:r>
            <a:r>
              <a:rPr lang="en-US" sz="3265">
                <a:solidFill>
                  <a:srgbClr val="000000"/>
                </a:solidFill>
                <a:latin typeface="Canva Sans"/>
                <a:ea typeface="Canva Sans"/>
                <a:cs typeface="Canva Sans"/>
                <a:sym typeface="Canva Sans"/>
              </a:rPr>
              <a:t>developed the complexity measure under the assumption that as claims and figures increase, so does the underlying technical and structural complexity of the patent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608903" y="643157"/>
            <a:ext cx="7586443" cy="7586443"/>
          </a:xfrm>
          <a:custGeom>
            <a:avLst/>
            <a:gdLst/>
            <a:ahLst/>
            <a:cxnLst/>
            <a:rect r="r" b="b" t="t" l="l"/>
            <a:pathLst>
              <a:path h="7586443" w="7586443">
                <a:moveTo>
                  <a:pt x="0" y="0"/>
                </a:moveTo>
                <a:lnTo>
                  <a:pt x="7586444" y="0"/>
                </a:lnTo>
                <a:lnTo>
                  <a:pt x="7586444" y="7586443"/>
                </a:lnTo>
                <a:lnTo>
                  <a:pt x="0" y="7586443"/>
                </a:lnTo>
                <a:lnTo>
                  <a:pt x="0" y="0"/>
                </a:lnTo>
                <a:close/>
              </a:path>
            </a:pathLst>
          </a:custGeom>
          <a:blipFill>
            <a:blip r:embed="rId3"/>
            <a:stretch>
              <a:fillRect l="0" t="0" r="0" b="0"/>
            </a:stretch>
          </a:blipFill>
        </p:spPr>
      </p:sp>
      <p:sp>
        <p:nvSpPr>
          <p:cNvPr name="Freeform 6" id="6"/>
          <p:cNvSpPr/>
          <p:nvPr/>
        </p:nvSpPr>
        <p:spPr>
          <a:xfrm flipH="false" flipV="false" rot="0">
            <a:off x="10171048" y="643157"/>
            <a:ext cx="7184112" cy="7184112"/>
          </a:xfrm>
          <a:custGeom>
            <a:avLst/>
            <a:gdLst/>
            <a:ahLst/>
            <a:cxnLst/>
            <a:rect r="r" b="b" t="t" l="l"/>
            <a:pathLst>
              <a:path h="7184112" w="7184112">
                <a:moveTo>
                  <a:pt x="0" y="0"/>
                </a:moveTo>
                <a:lnTo>
                  <a:pt x="7184112" y="0"/>
                </a:lnTo>
                <a:lnTo>
                  <a:pt x="7184112" y="7184112"/>
                </a:lnTo>
                <a:lnTo>
                  <a:pt x="0" y="7184112"/>
                </a:lnTo>
                <a:lnTo>
                  <a:pt x="0" y="0"/>
                </a:lnTo>
                <a:close/>
              </a:path>
            </a:pathLst>
          </a:custGeom>
          <a:blipFill>
            <a:blip r:embed="rId4"/>
            <a:stretch>
              <a:fillRect l="0" t="0" r="0" b="0"/>
            </a:stretch>
          </a:blipFill>
        </p:spPr>
      </p:sp>
      <p:sp>
        <p:nvSpPr>
          <p:cNvPr name="TextBox 7" id="7"/>
          <p:cNvSpPr txBox="true"/>
          <p:nvPr/>
        </p:nvSpPr>
        <p:spPr>
          <a:xfrm rot="0">
            <a:off x="187179" y="8888102"/>
            <a:ext cx="17913641" cy="106426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Canva Sans"/>
                <a:ea typeface="Canva Sans"/>
                <a:cs typeface="Canva Sans"/>
                <a:sym typeface="Canva Sans"/>
              </a:rPr>
              <a:t>These plots show that even after outlier cleaning, claim counts remain non-normal and weakly related to citation counts, which cluster heavily at low values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35471" y="8802677"/>
            <a:ext cx="18323471" cy="0"/>
          </a:xfrm>
          <a:prstGeom prst="line">
            <a:avLst/>
          </a:prstGeom>
          <a:ln cap="flat" w="19050">
            <a:solidFill>
              <a:srgbClr val="FFFFFF"/>
            </a:solidFill>
            <a:prstDash val="solid"/>
            <a:headEnd type="none" len="sm" w="sm"/>
            <a:tailEnd type="none" len="sm" w="sm"/>
          </a:ln>
        </p:spPr>
      </p:sp>
      <p:sp>
        <p:nvSpPr>
          <p:cNvPr name="Freeform 5" id="5"/>
          <p:cNvSpPr/>
          <p:nvPr/>
        </p:nvSpPr>
        <p:spPr>
          <a:xfrm flipH="false" flipV="false" rot="0">
            <a:off x="3632352" y="437091"/>
            <a:ext cx="11401444" cy="7981011"/>
          </a:xfrm>
          <a:custGeom>
            <a:avLst/>
            <a:gdLst/>
            <a:ahLst/>
            <a:cxnLst/>
            <a:rect r="r" b="b" t="t" l="l"/>
            <a:pathLst>
              <a:path h="7981011" w="11401444">
                <a:moveTo>
                  <a:pt x="0" y="0"/>
                </a:moveTo>
                <a:lnTo>
                  <a:pt x="11401444" y="0"/>
                </a:lnTo>
                <a:lnTo>
                  <a:pt x="11401444" y="7981010"/>
                </a:lnTo>
                <a:lnTo>
                  <a:pt x="0" y="7981010"/>
                </a:lnTo>
                <a:lnTo>
                  <a:pt x="0" y="0"/>
                </a:lnTo>
                <a:close/>
              </a:path>
            </a:pathLst>
          </a:custGeom>
          <a:blipFill>
            <a:blip r:embed="rId3"/>
            <a:stretch>
              <a:fillRect l="0" t="0" r="0" b="0"/>
            </a:stretch>
          </a:blipFill>
        </p:spPr>
      </p:sp>
      <p:sp>
        <p:nvSpPr>
          <p:cNvPr name="TextBox 6" id="6"/>
          <p:cNvSpPr txBox="true"/>
          <p:nvPr/>
        </p:nvSpPr>
        <p:spPr>
          <a:xfrm rot="0">
            <a:off x="189074" y="8862778"/>
            <a:ext cx="18098926" cy="1178475"/>
          </a:xfrm>
          <a:prstGeom prst="rect">
            <a:avLst/>
          </a:prstGeom>
        </p:spPr>
        <p:txBody>
          <a:bodyPr anchor="t" rtlCol="false" tIns="0" lIns="0" bIns="0" rIns="0">
            <a:spAutoFit/>
          </a:bodyPr>
          <a:lstStyle/>
          <a:p>
            <a:pPr algn="ctr">
              <a:lnSpc>
                <a:spcPts val="4710"/>
              </a:lnSpc>
              <a:spcBef>
                <a:spcPct val="0"/>
              </a:spcBef>
            </a:pPr>
            <a:r>
              <a:rPr lang="en-US" sz="3364">
                <a:solidFill>
                  <a:srgbClr val="000000"/>
                </a:solidFill>
                <a:latin typeface="Canva Sans"/>
                <a:ea typeface="Canva Sans"/>
                <a:cs typeface="Canva Sans"/>
                <a:sym typeface="Canva Sans"/>
              </a:rPr>
              <a:t>This hexbin plot shows that most patents have few inventors and relatively low citation counts, with no strong linear relationship between the two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sp>
        <p:nvSpPr>
          <p:cNvPr name="AutoShape 4" id="4"/>
          <p:cNvSpPr/>
          <p:nvPr/>
        </p:nvSpPr>
        <p:spPr>
          <a:xfrm>
            <a:off x="0" y="2111945"/>
            <a:ext cx="18323471" cy="0"/>
          </a:xfrm>
          <a:prstGeom prst="line">
            <a:avLst/>
          </a:prstGeom>
          <a:ln cap="flat" w="19050">
            <a:solidFill>
              <a:srgbClr val="FFFFFF"/>
            </a:solidFill>
            <a:prstDash val="solid"/>
            <a:headEnd type="none" len="sm" w="sm"/>
            <a:tailEnd type="none" len="sm" w="sm"/>
          </a:ln>
        </p:spPr>
      </p:sp>
      <p:sp>
        <p:nvSpPr>
          <p:cNvPr name="Freeform 5" id="5">
            <a:hlinkClick r:id="rId4" tooltip="https://dashapp-349070754265.us-east1.run.app"/>
          </p:cNvPr>
          <p:cNvSpPr/>
          <p:nvPr/>
        </p:nvSpPr>
        <p:spPr>
          <a:xfrm flipH="false" flipV="false" rot="0">
            <a:off x="1353399" y="2098844"/>
            <a:ext cx="15263710" cy="6907665"/>
          </a:xfrm>
          <a:custGeom>
            <a:avLst/>
            <a:gdLst/>
            <a:ahLst/>
            <a:cxnLst/>
            <a:rect r="r" b="b" t="t" l="l"/>
            <a:pathLst>
              <a:path h="6907665" w="15263710">
                <a:moveTo>
                  <a:pt x="0" y="0"/>
                </a:moveTo>
                <a:lnTo>
                  <a:pt x="15263710" y="0"/>
                </a:lnTo>
                <a:lnTo>
                  <a:pt x="15263710" y="6907664"/>
                </a:lnTo>
                <a:lnTo>
                  <a:pt x="0" y="6907664"/>
                </a:lnTo>
                <a:lnTo>
                  <a:pt x="0" y="0"/>
                </a:lnTo>
                <a:close/>
              </a:path>
            </a:pathLst>
          </a:custGeom>
          <a:blipFill>
            <a:blip r:embed="rId3"/>
            <a:stretch>
              <a:fillRect l="0" t="0" r="0" b="0"/>
            </a:stretch>
          </a:blipFill>
        </p:spPr>
      </p:sp>
      <p:sp>
        <p:nvSpPr>
          <p:cNvPr name="TextBox 6" id="6"/>
          <p:cNvSpPr txBox="true"/>
          <p:nvPr/>
        </p:nvSpPr>
        <p:spPr>
          <a:xfrm rot="0">
            <a:off x="512362" y="452949"/>
            <a:ext cx="12189098" cy="1095362"/>
          </a:xfrm>
          <a:prstGeom prst="rect">
            <a:avLst/>
          </a:prstGeom>
        </p:spPr>
        <p:txBody>
          <a:bodyPr anchor="t" rtlCol="false" tIns="0" lIns="0" bIns="0" rIns="0">
            <a:spAutoFit/>
          </a:bodyPr>
          <a:lstStyle/>
          <a:p>
            <a:pPr algn="l">
              <a:lnSpc>
                <a:spcPts val="8548"/>
              </a:lnSpc>
            </a:pPr>
            <a:r>
              <a:rPr lang="en-US" sz="7498">
                <a:solidFill>
                  <a:srgbClr val="5E17EB"/>
                </a:solidFill>
                <a:latin typeface="Space Mono"/>
                <a:ea typeface="Space Mono"/>
                <a:cs typeface="Space Mono"/>
                <a:sym typeface="Space Mono"/>
              </a:rPr>
              <a:t>Link to Dashboard</a:t>
            </a:r>
          </a:p>
        </p:txBody>
      </p:sp>
      <p:sp>
        <p:nvSpPr>
          <p:cNvPr name="TextBox 7" id="7"/>
          <p:cNvSpPr txBox="true"/>
          <p:nvPr/>
        </p:nvSpPr>
        <p:spPr>
          <a:xfrm rot="0">
            <a:off x="1353399" y="9041708"/>
            <a:ext cx="12189098" cy="452235"/>
          </a:xfrm>
          <a:prstGeom prst="rect">
            <a:avLst/>
          </a:prstGeom>
        </p:spPr>
        <p:txBody>
          <a:bodyPr anchor="t" rtlCol="false" tIns="0" lIns="0" bIns="0" rIns="0">
            <a:spAutoFit/>
          </a:bodyPr>
          <a:lstStyle/>
          <a:p>
            <a:pPr algn="l">
              <a:lnSpc>
                <a:spcPts val="3532"/>
              </a:lnSpc>
            </a:pPr>
            <a:r>
              <a:rPr lang="en-US" sz="3098" u="sng">
                <a:solidFill>
                  <a:srgbClr val="5E17EB"/>
                </a:solidFill>
                <a:latin typeface="Space Mono"/>
                <a:ea typeface="Space Mono"/>
                <a:cs typeface="Space Mono"/>
                <a:sym typeface="Space Mono"/>
                <a:hlinkClick r:id="rId5" tooltip="https://dashapp-349070754265.us-east1.run.app"/>
              </a:rPr>
              <a:t>https://dashapp-349070754265.us-east1.run.app/</a:t>
            </a:r>
          </a:p>
        </p:txBody>
      </p:sp>
      <p:sp>
        <p:nvSpPr>
          <p:cNvPr name="TextBox 8" id="8"/>
          <p:cNvSpPr txBox="true"/>
          <p:nvPr/>
        </p:nvSpPr>
        <p:spPr>
          <a:xfrm rot="0">
            <a:off x="613226" y="1548310"/>
            <a:ext cx="8372029" cy="331077"/>
          </a:xfrm>
          <a:prstGeom prst="rect">
            <a:avLst/>
          </a:prstGeom>
        </p:spPr>
        <p:txBody>
          <a:bodyPr anchor="t" rtlCol="false" tIns="0" lIns="0" bIns="0" rIns="0">
            <a:spAutoFit/>
          </a:bodyPr>
          <a:lstStyle/>
          <a:p>
            <a:pPr algn="ctr">
              <a:lnSpc>
                <a:spcPts val="2506"/>
              </a:lnSpc>
              <a:spcBef>
                <a:spcPct val="0"/>
              </a:spcBef>
            </a:pPr>
            <a:r>
              <a:rPr lang="en-US" sz="2198">
                <a:solidFill>
                  <a:srgbClr val="5E17EB"/>
                </a:solidFill>
                <a:latin typeface="Space Mono"/>
                <a:ea typeface="Space Mono"/>
                <a:cs typeface="Space Mono"/>
                <a:sym typeface="Space Mono"/>
              </a:rPr>
              <a:t>Random sample of 50K Observations for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DAG6h2LBmgI</dc:identifier>
  <dcterms:modified xsi:type="dcterms:W3CDTF">2011-08-01T06:04:30Z</dcterms:modified>
  <cp:revision>1</cp:revision>
  <dc:title>FROM CLAIMS TO CHARTS: Visualizing Innovation with USPTO’s PatentsView</dc:title>
</cp:coreProperties>
</file>